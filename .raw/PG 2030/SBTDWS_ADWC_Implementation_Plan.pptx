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20116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SBTDWS → ADWC : IMPLEMENTATION PLAN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052560" y="2011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Effort by Phase  |  Q3 26 – Q4 30</a:t>
            </a:r>
            <a:endParaRPr lang="en-US" sz="900" dirty="0"/>
          </a:p>
        </p:txBody>
      </p:sp>
      <p:pic>
        <p:nvPicPr>
          <p:cNvPr id="4" name="Image 0" descr="/home/claude/crest_b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8288" y="146304"/>
            <a:ext cx="384048" cy="4937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92608" y="640080"/>
            <a:ext cx="11606479" cy="329184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384048" y="640080"/>
            <a:ext cx="1142359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 FROM PG HQ BY Q4 26:   </a:t>
            </a:r>
            <a:pPr indent="0" marL="0">
              <a:buNone/>
            </a:pPr>
            <a:r>
              <a:rPr lang="en-US" sz="74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J-Staff: our own or provided?</a:t>
            </a:r>
            <a:pPr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</a:t>
            </a:r>
            <a:pPr indent="0" marL="0">
              <a:buNone/>
            </a:pPr>
            <a:r>
              <a:rPr lang="en-US" sz="74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maritime in scope?</a:t>
            </a:r>
            <a:pPr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</a:t>
            </a:r>
            <a:pPr indent="0" marL="0">
              <a:buNone/>
            </a:pPr>
            <a:r>
              <a:rPr lang="en-US" sz="74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cyber, EMS and space?</a:t>
            </a:r>
            <a:pPr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</a:t>
            </a:r>
            <a:pPr indent="0" marL="0">
              <a:buNone/>
            </a:pPr>
            <a:r>
              <a:rPr lang="en-US" sz="74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receives reports?</a:t>
            </a:r>
            <a:pPr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</a:t>
            </a:r>
            <a:pPr indent="0" marL="0">
              <a:buNone/>
            </a:pPr>
            <a:r>
              <a:rPr lang="en-US" sz="74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settles PGI disputes?</a:t>
            </a:r>
            <a:pPr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</a:t>
            </a:r>
            <a:pPr indent="0" marL="0">
              <a:buNone/>
            </a:pPr>
            <a:r>
              <a:rPr lang="en-US" sz="74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ADWC name final?</a:t>
            </a:r>
            <a:endParaRPr lang="en-US" sz="740" dirty="0"/>
          </a:p>
        </p:txBody>
      </p:sp>
      <p:sp>
        <p:nvSpPr>
          <p:cNvPr id="7" name="Shape 4"/>
          <p:cNvSpPr/>
          <p:nvPr/>
        </p:nvSpPr>
        <p:spPr>
          <a:xfrm>
            <a:off x="292608" y="1042416"/>
            <a:ext cx="1481328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6616" y="1042416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OF EFFORT</a:t>
            </a: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covered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28800" y="1042416"/>
            <a:ext cx="2476424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92808" y="1042416"/>
            <a:ext cx="234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—  DECIDE &amp; AGREE</a:t>
            </a:r>
            <a:endParaRPr lang="en-US" sz="82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26 – Q4 26   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Decisions made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4085768" y="12344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46372" y="1042416"/>
            <a:ext cx="2476424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10380" y="1042416"/>
            <a:ext cx="234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 —  CREATE TEAMS &amp; STANDARDS</a:t>
            </a:r>
            <a:endParaRPr lang="en-US" sz="82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27 – Q4 27   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MLOC — Q4 27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6603340" y="12344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863944" y="1042416"/>
            <a:ext cx="2476424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27952" y="1042416"/>
            <a:ext cx="234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 —  BUILD FACILITIES &amp; SYSTEMS</a:t>
            </a:r>
            <a:endParaRPr lang="en-US" sz="82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28 – Q4 28   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IOC — Q4 28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9120911" y="12344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381515" y="1042416"/>
            <a:ext cx="2476424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45523" y="1042416"/>
            <a:ext cx="234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 —  SUSTAIN &amp; EXPAND</a:t>
            </a:r>
            <a:endParaRPr lang="en-US" sz="82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29 – Q4 30   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STATE: FOC — Q4 30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292608" y="1627632"/>
            <a:ext cx="1481328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167335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AUTHORITY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AGREEMENTS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" y="2176272"/>
            <a:ext cx="1335024" cy="2103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2176272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TASKS 1 – 9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1828800" y="1627632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92808" y="1668780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authority to act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to pass or fail a unit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must attend validation, not volunteer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who approves the standards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and J-Staff decisions </a:t>
            </a:r>
            <a:pPr indent="0" marL="0">
              <a:lnSpc>
                <a:spcPct val="92000"/>
              </a:lnSpc>
              <a:buNone/>
            </a:pPr>
            <a:r>
              <a:rPr lang="en-US" sz="72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above)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4346372" y="1627632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10380" y="1668780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roles with other headquarters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agreement with J7 and PGI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agreement with J3 WDC and J8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Command agrees to send units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6863944" y="1627632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27952" y="1668780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approved and in use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 9, SAG 10 and ADW standards published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checking of results begins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ADWC name confirmed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9381515" y="1627632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45523" y="1668780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partner nations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Agreements with partner nations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trainers recognised by allied programmes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authority and standards each year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292608" y="2507285"/>
            <a:ext cx="1481328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5760" y="2553005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PEOPLE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TEAMS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65760" y="3055925"/>
            <a:ext cx="1335024" cy="2103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3055925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1 &amp; 9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1828800" y="2507285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892808" y="2548433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courses and reorganise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every course against 6GW — Q3 26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SBTDWS structure approved — Q4 26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for Observer Trainer and instructor posts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4346372" y="2507285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10380" y="2548433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training teams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Trainer team ready — Q2 27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 instructors replace contractors — Q4 27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design team created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6863944" y="2507285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27952" y="2548433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exercise control teams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HICON and EXCON teams ready — Q4 28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Cell, AAR analysts, enemy force team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Fires, cyber and EW specialists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9381515" y="2507285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45523" y="2548433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teams trained and staffed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path for validators in place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training continues every year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specialists — if in scope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292608" y="3386938"/>
            <a:ext cx="1481328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5760" y="343265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STANDARDS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VALIDATION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65760" y="3935578"/>
            <a:ext cx="1335024" cy="2103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65760" y="3935578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1, 7 &amp; 8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1828800" y="3386938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892808" y="3428086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standards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ADW validation framework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SAG 9 and SAG 10 standards for approval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required skills for each force element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4346372" y="3386938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410380" y="3428086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method below Brigade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first validation below Brigade — Q2 27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the Collective Training framework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Observer Trainers to approved standard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6863944" y="3386938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927952" y="3428086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against SAG 9 and SAG 10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full SAG 9 and SAG 10 validation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Joint Fires and counter-drone standards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AAR template and rehearsal framework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9381515" y="3386938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445523" y="3428086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units every year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validation programme — full by Q4 30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lessons to J3 WDC and PGI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standards every year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292608" y="4266590"/>
            <a:ext cx="1481328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65760" y="431231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EXPERIMENT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INNOVATE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65760" y="4815230"/>
            <a:ext cx="1335024" cy="2103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65760" y="4815230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2, 3, 4 &amp; 5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1828800" y="4266590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892808" y="4307738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projects and plan handover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all CAPDEV projects — Q3 26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handover plan to Innovation Command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Makhlab 1 trial framework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4346372" y="4266590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410380" y="4307738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experiments under J3 WDC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first Makhlab 1 experiment — Q1 27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J3 WDC rules for experiments in use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CAPDEV cell handed to Innovation Command</a:t>
            </a:r>
            <a:endParaRPr lang="en-US" sz="780" dirty="0"/>
          </a:p>
        </p:txBody>
      </p:sp>
      <p:sp>
        <p:nvSpPr>
          <p:cNvPr id="64" name="Shape 61"/>
          <p:cNvSpPr/>
          <p:nvPr/>
        </p:nvSpPr>
        <p:spPr>
          <a:xfrm>
            <a:off x="6863944" y="4266590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927952" y="4307738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results and pass on lessons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Makhlab 1 demonstration and drone exercise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PG 2030 and AI EMAD trial events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way to pass new TTPs to PG units</a:t>
            </a:r>
            <a:endParaRPr lang="en-US" sz="780" dirty="0"/>
          </a:p>
        </p:txBody>
      </p:sp>
      <p:sp>
        <p:nvSpPr>
          <p:cNvPr id="66" name="Shape 63"/>
          <p:cNvSpPr/>
          <p:nvPr/>
        </p:nvSpPr>
        <p:spPr>
          <a:xfrm>
            <a:off x="9381515" y="4266590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445523" y="4307738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improving from experience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experiment every year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operational lessons to course design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Command fully working</a:t>
            </a:r>
            <a:endParaRPr lang="en-US" sz="780" dirty="0"/>
          </a:p>
        </p:txBody>
      </p:sp>
      <p:sp>
        <p:nvSpPr>
          <p:cNvPr id="68" name="Shape 65"/>
          <p:cNvSpPr/>
          <p:nvPr/>
        </p:nvSpPr>
        <p:spPr>
          <a:xfrm>
            <a:off x="292608" y="5146243"/>
            <a:ext cx="1481328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65760" y="5191963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FACILITIES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REHEARSAL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365760" y="5694883"/>
            <a:ext cx="1335024" cy="210312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65760" y="5694883"/>
            <a:ext cx="1335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6</a:t>
            </a:r>
            <a:endParaRPr lang="en-US" sz="700" dirty="0"/>
          </a:p>
        </p:txBody>
      </p:sp>
      <p:sp>
        <p:nvSpPr>
          <p:cNvPr id="72" name="Shape 69"/>
          <p:cNvSpPr/>
          <p:nvPr/>
        </p:nvSpPr>
        <p:spPr>
          <a:xfrm>
            <a:off x="1828800" y="5146243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892808" y="5187391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and fund Hameem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Hameem plan — what, when and how much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J7 approves the design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Hameem plan approved — Q1 27</a:t>
            </a:r>
            <a:endParaRPr lang="en-US" sz="780" dirty="0"/>
          </a:p>
        </p:txBody>
      </p:sp>
      <p:sp>
        <p:nvSpPr>
          <p:cNvPr id="74" name="Shape 71"/>
          <p:cNvSpPr/>
          <p:nvPr/>
        </p:nvSpPr>
        <p:spPr>
          <a:xfrm>
            <a:off x="4346372" y="5146243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410380" y="5187391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simulation and network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system linked to J7 network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EXCON building and secure network at Hameem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building ranges and command post</a:t>
            </a:r>
            <a:endParaRPr lang="en-US" sz="780" dirty="0"/>
          </a:p>
        </p:txBody>
      </p:sp>
      <p:sp>
        <p:nvSpPr>
          <p:cNvPr id="76" name="Shape 73"/>
          <p:cNvSpPr/>
          <p:nvPr/>
        </p:nvSpPr>
        <p:spPr>
          <a:xfrm>
            <a:off x="6863944" y="5146243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927952" y="5187391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mission rehearsal facility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Hameem rehearsal facility ready — Q4 28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village, patrol base, cyber and EW ranges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equipment and AAR analysis tools</a:t>
            </a:r>
            <a:endParaRPr lang="en-US" sz="780" dirty="0"/>
          </a:p>
        </p:txBody>
      </p:sp>
      <p:sp>
        <p:nvSpPr>
          <p:cNvPr id="78" name="Shape 75"/>
          <p:cNvSpPr/>
          <p:nvPr/>
        </p:nvSpPr>
        <p:spPr>
          <a:xfrm>
            <a:off x="9381515" y="5146243"/>
            <a:ext cx="247642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9445523" y="5187391"/>
            <a:ext cx="23484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building the site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Hameem fully complete — Q4 30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 rooms, accommodation, remaining buildings</a:t>
            </a:r>
            <a:endParaRPr lang="en-US" sz="780" dirty="0"/>
          </a:p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72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 training site — if in scope</a:t>
            </a:r>
            <a:endParaRPr lang="en-US" sz="780" dirty="0"/>
          </a:p>
        </p:txBody>
      </p:sp>
      <p:sp>
        <p:nvSpPr>
          <p:cNvPr id="80" name="Shape 77"/>
          <p:cNvSpPr/>
          <p:nvPr/>
        </p:nvSpPr>
        <p:spPr>
          <a:xfrm>
            <a:off x="292608" y="6115507"/>
            <a:ext cx="11606479" cy="310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384048" y="6115507"/>
            <a:ext cx="11423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DEPEND ON OTHERS FOR:   </a:t>
            </a:r>
            <a:pPr indent="0" marL="0">
              <a:buNone/>
            </a:pPr>
            <a:r>
              <a:rPr lang="en-US" sz="76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J7 LVC network     •     J6 digital network     •     J3 WDC rules for experiments     •     PGI course alignment     •     Hameem funding and approvals</a:t>
            </a:r>
            <a:endParaRPr lang="en-US" sz="760" dirty="0"/>
          </a:p>
        </p:txBody>
      </p:sp>
      <p:sp>
        <p:nvSpPr>
          <p:cNvPr id="82" name="Text 79"/>
          <p:cNvSpPr/>
          <p:nvPr/>
        </p:nvSpPr>
        <p:spPr>
          <a:xfrm>
            <a:off x="292608" y="6481267"/>
            <a:ext cx="11606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  </a:t>
            </a:r>
            <a:pPr indent="0" marL="0">
              <a:buNone/>
            </a:pPr>
            <a:r>
              <a:rPr lang="en-US" sz="680" i="1" u="sng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Italic and underlined</a:t>
            </a:r>
            <a:pPr indent="0" marL="0">
              <a:buNone/>
            </a:pPr>
            <a:r>
              <a:rPr lang="en-US" sz="6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not yet decided, or depends on a PG HQ decision.     ▶ = each gate must be passed before the next phase begins.     Task numbers = SBTDWS Indicative Tasks (PG 2030, para 3.15b). Task 1 appears in LOE 2 (train) and LOE 3 (validate).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SBTDWS to ADWC - Implementation Plan</dc:title>
  <dc:subject>PptxGenJS Presentation</dc:subject>
  <dc:creator>SBTDWS</dc:creator>
  <cp:lastModifiedBy>SBTDWS</cp:lastModifiedBy>
  <cp:revision>1</cp:revision>
  <dcterms:created xsi:type="dcterms:W3CDTF">2026-07-27T06:10:28Z</dcterms:created>
  <dcterms:modified xsi:type="dcterms:W3CDTF">2026-07-27T06:10:28Z</dcterms:modified>
</cp:coreProperties>
</file>